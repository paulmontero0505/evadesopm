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Sistema de evaluación para Operarios de Puerto Multipropósito.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Seguridad lleva el mayor peso según los lineamientos de CSPCP.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 altos y conductas sólidas. El combinado supera 4.50 por poco: la exigencia es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evento de seguridad topó O1 y O3 en 2.50. Resultado Por Debajo: se activa Plan de Mejora.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E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EF7D00"/>
          </a:solidFill>
          <a:ln/>
        </p:spPr>
      </p:sp>
      <p:sp>
        <p:nvSpPr>
          <p:cNvPr id="3" name="Shape 1"/>
          <p:cNvSpPr/>
          <p:nvPr/>
        </p:nvSpPr>
        <p:spPr>
          <a:xfrm>
            <a:off x="1389888" y="594360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0060A9"/>
          </a:solidFill>
          <a:ln/>
        </p:spPr>
      </p:sp>
      <p:sp>
        <p:nvSpPr>
          <p:cNvPr id="4" name="Shape 2"/>
          <p:cNvSpPr/>
          <p:nvPr/>
        </p:nvSpPr>
        <p:spPr>
          <a:xfrm>
            <a:off x="1956816" y="594360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12437F"/>
          </a:solidFill>
          <a:ln/>
        </p:spPr>
      </p:sp>
      <p:sp>
        <p:nvSpPr>
          <p:cNvPr id="5" name="Shape 3"/>
          <p:cNvSpPr/>
          <p:nvPr/>
        </p:nvSpPr>
        <p:spPr>
          <a:xfrm>
            <a:off x="2523744" y="594360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EF7D00"/>
          </a:solidFill>
          <a:ln/>
        </p:spPr>
      </p:sp>
      <p:sp>
        <p:nvSpPr>
          <p:cNvPr id="6" name="Shape 4"/>
          <p:cNvSpPr/>
          <p:nvPr/>
        </p:nvSpPr>
        <p:spPr>
          <a:xfrm>
            <a:off x="3090672" y="594360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0060A9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594360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12437F"/>
          </a:solidFill>
          <a:ln/>
        </p:spPr>
      </p:sp>
      <p:sp>
        <p:nvSpPr>
          <p:cNvPr id="8" name="Shape 6"/>
          <p:cNvSpPr/>
          <p:nvPr/>
        </p:nvSpPr>
        <p:spPr>
          <a:xfrm>
            <a:off x="4224528" y="594360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EF7D00"/>
          </a:solidFill>
          <a:ln/>
        </p:spPr>
      </p:sp>
      <p:sp>
        <p:nvSpPr>
          <p:cNvPr id="9" name="Shape 7"/>
          <p:cNvSpPr/>
          <p:nvPr/>
        </p:nvSpPr>
        <p:spPr>
          <a:xfrm>
            <a:off x="4791456" y="594360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0060A9"/>
          </a:solidFill>
          <a:ln/>
        </p:spPr>
      </p:sp>
      <p:sp>
        <p:nvSpPr>
          <p:cNvPr id="10" name="Shape 8"/>
          <p:cNvSpPr/>
          <p:nvPr/>
        </p:nvSpPr>
        <p:spPr>
          <a:xfrm>
            <a:off x="5358384" y="594360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12437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COSCO SHIPPING PORTS CHANCAY PERÚ · CSPCP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37160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Sistema de Evaluación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 Desempeño OPM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registro por turno en el muelle a la calificación trimestral, alineado al Modelo de Liderazgo Institucional de COSCO SHIPPING.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6177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B3A78"/>
          </a:solidFill>
          <a:ln w="12700">
            <a:solidFill>
              <a:srgbClr val="1C5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6908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7D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2960" y="51480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46177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B3A78"/>
          </a:solidFill>
          <a:ln w="12700">
            <a:solidFill>
              <a:srgbClr val="1C5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46908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7D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2,500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154680" y="51480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Fichas/trimestre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46177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B3A78"/>
          </a:solidFill>
          <a:ln w="12700">
            <a:solidFill>
              <a:srgbClr val="1C5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46908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7D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86400" y="51480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18120" y="46177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B3A78"/>
          </a:solidFill>
          <a:ln w="12700">
            <a:solidFill>
              <a:srgbClr val="1C5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46908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7D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818120" y="51480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Fichas mínimas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Una sola cadena: del turno a la calificación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05940" y="2103120"/>
            <a:ext cx="548640" cy="548640"/>
          </a:xfrm>
          <a:prstGeom prst="ellipse">
            <a:avLst/>
          </a:prstGeom>
          <a:solidFill>
            <a:srgbClr val="0060A9"/>
          </a:solidFill>
          <a:ln/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059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Ficha del turno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4290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supervisor califica 1 a 5 las actividades que el OPM realizó.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0128" y="3291840"/>
            <a:ext cx="329184" cy="457200"/>
          </a:xfrm>
          <a:prstGeom prst="rightArrow">
            <a:avLst/>
          </a:prstGeom>
          <a:solidFill>
            <a:srgbClr val="EF7D00"/>
          </a:solidFill>
          <a:ln/>
        </p:spPr>
      </p:sp>
      <p:sp>
        <p:nvSpPr>
          <p:cNvPr id="10" name="Shape 8"/>
          <p:cNvSpPr/>
          <p:nvPr/>
        </p:nvSpPr>
        <p:spPr>
          <a:xfrm>
            <a:off x="3611880" y="182880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4860" y="2103120"/>
            <a:ext cx="548640" cy="548640"/>
          </a:xfrm>
          <a:prstGeom prst="ellipse">
            <a:avLst/>
          </a:prstGeom>
          <a:solidFill>
            <a:srgbClr val="0060A9"/>
          </a:solidFill>
          <a:ln/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48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49040" y="2788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Promedios por objetivo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34290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ficha agrupa las tareas en los 4 objetivos y saca su promedio.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9048" y="3291840"/>
            <a:ext cx="329184" cy="457200"/>
          </a:xfrm>
          <a:prstGeom prst="rightArrow">
            <a:avLst/>
          </a:prstGeom>
          <a:solidFill>
            <a:srgbClr val="EF7D0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182880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83780" y="2103120"/>
            <a:ext cx="548640" cy="548640"/>
          </a:xfrm>
          <a:prstGeom prst="ellipse">
            <a:avLst/>
          </a:prstGeom>
          <a:solidFill>
            <a:srgbClr val="002E6D"/>
          </a:solidFill>
          <a:ln/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837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37960" y="2788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Consolidado trimestral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4290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promedian las fichas del trimestre. Mínimo 8 para ser válida.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87968" y="3291840"/>
            <a:ext cx="329184" cy="457200"/>
          </a:xfrm>
          <a:prstGeom prst="rightArrow">
            <a:avLst/>
          </a:prstGeom>
          <a:solidFill>
            <a:srgbClr val="EF7D00"/>
          </a:solidFill>
          <a:ln/>
        </p:spPr>
      </p:sp>
      <p:sp>
        <p:nvSpPr>
          <p:cNvPr id="22" name="Shape 20"/>
          <p:cNvSpPr/>
          <p:nvPr/>
        </p:nvSpPr>
        <p:spPr>
          <a:xfrm>
            <a:off x="9189720" y="182880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72700" y="2103120"/>
            <a:ext cx="548640" cy="548640"/>
          </a:xfrm>
          <a:prstGeom prst="ellipse">
            <a:avLst/>
          </a:prstGeom>
          <a:solidFill>
            <a:srgbClr val="EF7D00"/>
          </a:solidFill>
          <a:ln/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1727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26880" y="2788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Evaluación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72600" y="34290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70% + Conductas 30% → calificación final.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534924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E8EEF7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53492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ficha es la evidencia.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calificación se asigna sin fichas que la respalden — así lo exige el sistema de desempeño de CSPCP.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FICHA DE OBSERVACIÓN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Cómo se llena, en el turno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002E6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DE REGISTRO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251460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14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8308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Insatisfactorio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172968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1729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83080" y="3172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3831336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8313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83080" y="38313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38313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mínimo esperado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4489704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0060A9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4897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83080" y="44897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97280" y="5148072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1E7B34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51480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83080" y="5148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Excelente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5532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 = la actividad no se realizó. No cuenta para el promedio.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182880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12280" y="2057400"/>
            <a:ext cx="109728" cy="777240"/>
          </a:xfrm>
          <a:prstGeom prst="roundRect">
            <a:avLst>
              <a:gd name="adj" fmla="val 41667"/>
            </a:avLst>
          </a:prstGeom>
          <a:solidFill>
            <a:srgbClr val="0060A9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1965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Solo lo que aplica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86600" y="235915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despliegan las actividades del tipo de carga operado. El resto queda en N/A.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0" y="324612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12280" y="3474720"/>
            <a:ext cx="109728" cy="777240"/>
          </a:xfrm>
          <a:prstGeom prst="roundRect">
            <a:avLst>
              <a:gd name="adj" fmla="val 41667"/>
            </a:avLst>
          </a:prstGeom>
          <a:solidFill>
            <a:srgbClr val="002E6D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3383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Cada tarea lleva su objetivo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86600" y="377647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etiqueta O1–O4 muestra a qué objetivo aporta cada actividad.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0" y="466344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12280" y="4892040"/>
            <a:ext cx="109728" cy="777240"/>
          </a:xfrm>
          <a:prstGeom prst="roundRect">
            <a:avLst>
              <a:gd name="adj" fmla="val 41667"/>
            </a:avLst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7086600" y="4800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Evento de seguridad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086600" y="519379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se marca, Seguridad y Productividad quedan por debajo de lo esperado.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83680" y="6080760"/>
            <a:ext cx="4754880" cy="9144"/>
          </a:xfrm>
          <a:prstGeom prst="round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DIMENSIÓN OBJETIVOS · 70%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Los 4 objetivos y las tareas que los sustentan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0756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83080" y="207568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40%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651760" y="205740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Seguridad y cumplimiento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EPP · revisión de materiales de izaje · seguridad en maniobras · bandera de seguridad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0756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060A9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0" y="207568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30%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183880" y="205740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Ejecución técnica por tipo de carga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29400" y="2788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Amarre y shore tension · contenedores · granel · fraccionada · big bags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9319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97280" y="422452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A5195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83080" y="422452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15%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651760" y="420624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Productividad operacional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4937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Ritmo y rendimiento del turno, valorado por el supervisor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39319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29400" y="422452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E7B34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0" y="422452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15%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183880" y="420624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Cuidado de carga y equipos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29400" y="4937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preoperacional · preparación del área · orden y limpieza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2E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DIMENSIÓN CONDUCTAS · 30%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Modelo de Liderazgo Institucional de COSCO SHIPPING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comportamientos organizacionales del modelo aplican a todos los colaboradores. Se califican en 3 niveles y se convierten a la escala 1-5: Sobre = 5 · Cumple = 3 · Por Debajo = 1.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0B3A78"/>
          </a:solidFill>
          <a:ln w="12700">
            <a:solidFill>
              <a:srgbClr val="1C56A0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2724912"/>
            <a:ext cx="402336" cy="402336"/>
          </a:xfrm>
          <a:prstGeom prst="ellipse">
            <a:avLst/>
          </a:prstGeom>
          <a:solidFill>
            <a:srgbClr val="EF7D00"/>
          </a:solidFill>
          <a:ln/>
        </p:spPr>
      </p:sp>
      <p:sp>
        <p:nvSpPr>
          <p:cNvPr id="7" name="Text 5"/>
          <p:cNvSpPr/>
          <p:nvPr/>
        </p:nvSpPr>
        <p:spPr>
          <a:xfrm>
            <a:off x="1499616" y="2423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66160" y="2423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0B3A78"/>
          </a:solidFill>
          <a:ln w="12700">
            <a:solidFill>
              <a:srgbClr val="1C56A0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30752" y="2724912"/>
            <a:ext cx="402336" cy="402336"/>
          </a:xfrm>
          <a:prstGeom prst="ellipse">
            <a:avLst/>
          </a:prstGeom>
          <a:solidFill>
            <a:srgbClr val="EF7D00"/>
          </a:solidFill>
          <a:ln/>
        </p:spPr>
      </p:sp>
      <p:sp>
        <p:nvSpPr>
          <p:cNvPr id="10" name="Text 8"/>
          <p:cNvSpPr/>
          <p:nvPr/>
        </p:nvSpPr>
        <p:spPr>
          <a:xfrm>
            <a:off x="4242816" y="2423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Adaptabilidad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423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0B3A78"/>
          </a:solidFill>
          <a:ln w="12700">
            <a:solidFill>
              <a:srgbClr val="1C56A0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73952" y="2724912"/>
            <a:ext cx="402336" cy="402336"/>
          </a:xfrm>
          <a:prstGeom prst="ellipse">
            <a:avLst/>
          </a:prstGeom>
          <a:solidFill>
            <a:srgbClr val="EF7D00"/>
          </a:solidFill>
          <a:ln/>
        </p:spPr>
      </p:sp>
      <p:sp>
        <p:nvSpPr>
          <p:cNvPr id="13" name="Text 11"/>
          <p:cNvSpPr/>
          <p:nvPr/>
        </p:nvSpPr>
        <p:spPr>
          <a:xfrm>
            <a:off x="6986016" y="2423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en equipo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52560" y="2423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0B3A78"/>
          </a:solidFill>
          <a:ln w="12700">
            <a:solidFill>
              <a:srgbClr val="1C56A0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217152" y="2724912"/>
            <a:ext cx="402336" cy="402336"/>
          </a:xfrm>
          <a:prstGeom prst="ellipse">
            <a:avLst/>
          </a:prstGeom>
          <a:solidFill>
            <a:srgbClr val="EF7D00"/>
          </a:solidFill>
          <a:ln/>
        </p:spPr>
      </p:sp>
      <p:sp>
        <p:nvSpPr>
          <p:cNvPr id="16" name="Text 14"/>
          <p:cNvSpPr/>
          <p:nvPr/>
        </p:nvSpPr>
        <p:spPr>
          <a:xfrm>
            <a:off x="9729216" y="2423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Iniciativa e innovación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3611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0B3A78"/>
          </a:solidFill>
          <a:ln w="12700">
            <a:solidFill>
              <a:srgbClr val="1C56A0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87552" y="3913632"/>
            <a:ext cx="402336" cy="402336"/>
          </a:xfrm>
          <a:prstGeom prst="ellipse">
            <a:avLst/>
          </a:prstGeom>
          <a:solidFill>
            <a:srgbClr val="EF7D00"/>
          </a:solidFill>
          <a:ln/>
        </p:spPr>
      </p:sp>
      <p:sp>
        <p:nvSpPr>
          <p:cNvPr id="19" name="Text 17"/>
          <p:cNvSpPr/>
          <p:nvPr/>
        </p:nvSpPr>
        <p:spPr>
          <a:xfrm>
            <a:off x="1499616" y="3611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Respeto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566160" y="3611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0B3A78"/>
          </a:solidFill>
          <a:ln w="12700">
            <a:solidFill>
              <a:srgbClr val="1C56A0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30752" y="3913632"/>
            <a:ext cx="402336" cy="402336"/>
          </a:xfrm>
          <a:prstGeom prst="ellipse">
            <a:avLst/>
          </a:prstGeom>
          <a:solidFill>
            <a:srgbClr val="EF7D00"/>
          </a:solidFill>
          <a:ln/>
        </p:spPr>
      </p:sp>
      <p:sp>
        <p:nvSpPr>
          <p:cNvPr id="22" name="Text 20"/>
          <p:cNvSpPr/>
          <p:nvPr/>
        </p:nvSpPr>
        <p:spPr>
          <a:xfrm>
            <a:off x="4242816" y="3611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Orientación a la seguridad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09360" y="3611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0B3A78"/>
          </a:solidFill>
          <a:ln w="12700">
            <a:solidFill>
              <a:srgbClr val="1C56A0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73952" y="3913632"/>
            <a:ext cx="402336" cy="402336"/>
          </a:xfrm>
          <a:prstGeom prst="ellipse">
            <a:avLst/>
          </a:prstGeom>
          <a:solidFill>
            <a:srgbClr val="EF7D00"/>
          </a:solidFill>
          <a:ln/>
        </p:spPr>
      </p:sp>
      <p:sp>
        <p:nvSpPr>
          <p:cNvPr id="25" name="Text 23"/>
          <p:cNvSpPr/>
          <p:nvPr/>
        </p:nvSpPr>
        <p:spPr>
          <a:xfrm>
            <a:off x="6986016" y="3611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Orientación a resultados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50292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0B3A78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50292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CSPCP:  </a:t>
            </a:r>
            <a:pPr indent="0" marL="0">
              <a:buNone/>
            </a:pPr>
            <a:r>
              <a:rPr lang="en-US" sz="1350" dirty="0">
                <a:solidFill>
                  <a:srgbClr val="E4E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“Por Debajo” en conductas impide una calificación final de “Sobre”. Cómo se logra el resultado importa tanto como el resultado.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Cuánto debe registrar cada quien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337560" cy="2194560"/>
          </a:xfrm>
          <a:prstGeom prst="roundRect">
            <a:avLst>
              <a:gd name="adj" fmla="val 4167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920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22402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0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51560" y="30175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OPM presentes en su turno, según la rotación programada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337560" cy="2194560"/>
          </a:xfrm>
          <a:prstGeom prst="roundRect">
            <a:avLst>
              <a:gd name="adj" fmla="val 4167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920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22402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17720" y="30175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fichas mínimas en el trimestre para que su evaluación sea válida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783080"/>
            <a:ext cx="3337560" cy="2194560"/>
          </a:xfrm>
          <a:prstGeom prst="roundRect">
            <a:avLst>
              <a:gd name="adj" fmla="val 4167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83880" y="1920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(A–D)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83880" y="22402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7D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183880" y="30175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OPM del team por debajo del piso al cierre del trimestre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 meta se adapta al tamaño del turno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4663440"/>
            <a:ext cx="2103120" cy="438912"/>
          </a:xfrm>
          <a:prstGeom prst="rect">
            <a:avLst/>
          </a:prstGeom>
          <a:solidFill>
            <a:srgbClr val="002E6D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63440"/>
            <a:ext cx="21031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OPM en el turno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926080" y="4663440"/>
            <a:ext cx="2103120" cy="438912"/>
          </a:xfrm>
          <a:prstGeom prst="rect">
            <a:avLst/>
          </a:prstGeom>
          <a:solidFill>
            <a:srgbClr val="002E6D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46634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(sin nave)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0" y="4663440"/>
            <a:ext cx="2103120" cy="438912"/>
          </a:xfrm>
          <a:prstGeom prst="rect">
            <a:avLst/>
          </a:prstGeom>
          <a:solidFill>
            <a:srgbClr val="002E6D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46634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32320" y="4663440"/>
            <a:ext cx="2103120" cy="438912"/>
          </a:xfrm>
          <a:prstGeom prst="rect">
            <a:avLst/>
          </a:prstGeom>
          <a:solidFill>
            <a:srgbClr val="002E6D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46634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35440" y="4663440"/>
            <a:ext cx="2103120" cy="438912"/>
          </a:xfrm>
          <a:prstGeom prst="rect">
            <a:avLst/>
          </a:prstGeom>
          <a:solidFill>
            <a:srgbClr val="002E6D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46634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2960" y="5102352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102352"/>
            <a:ext cx="21031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Fichas del turno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926080" y="5102352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510235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0" y="5102352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510235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132320" y="5102352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510235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235440" y="5102352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510235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22960" y="5541264"/>
            <a:ext cx="21031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541264"/>
            <a:ext cx="21031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supervisor (÷4)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926080" y="5541264"/>
            <a:ext cx="21031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0" y="554126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0" y="5541264"/>
            <a:ext cx="21031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554126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132320" y="5541264"/>
            <a:ext cx="21031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554126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235440" y="5541264"/>
            <a:ext cx="21031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35440" y="554126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 sin nave: cero fichas, sin penalidad. La carga se reparte entre los 3–4 supervisores del team.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TRIMESTRAL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Cuándo una evaluación es válida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7830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03120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fichas mínimas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22402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de 8 → evidencia insuficiente, no se califica.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8346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03120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 sus turnos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32918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muestra debe cubrir al menos el 20% de lo que trabajó.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38862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03120" y="3995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supervisores distintos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43434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el sesgo de un solo evaluador.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937760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49377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0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103120" y="5047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fichas por tipo de carga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03120" y="53949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poder juzgar su polivalencia con justicia.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494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Estados del tablero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949440" y="2286000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1E7B34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22860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49440" y="26974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puede evaluar.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49440" y="3246120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32461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INSUFICIENTE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49440" y="36576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fuerza la calificación.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49440" y="4206240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B8860B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4206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 % MUESTREO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49440" y="46177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Alcanza el piso, no el porcentaje.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949440" y="5166360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B8860B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POCOS EVALUADORES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49440" y="55778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de sesgo; revisar rotación.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949440" y="553212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E8EEF7"/>
          </a:solidFill>
          <a:ln/>
        </p:spPr>
      </p:sp>
      <p:sp>
        <p:nvSpPr>
          <p:cNvPr id="34" name="Text 32"/>
          <p:cNvSpPr/>
          <p:nvPr/>
        </p:nvSpPr>
        <p:spPr>
          <a:xfrm>
            <a:off x="7178040" y="55321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turno con evento de seguridad se registra siempre.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1 · BUEN DESEMPEÑO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Rosa Vega — evaluación del trimestre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E7B34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69164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OPM-004 · Rosa Vega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6916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4E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fichas · 4 supervisores · sin eventos · VÁLIDA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· 70%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1E7B3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80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cumplimiento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60520" y="3044952"/>
            <a:ext cx="137160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60520" y="3044952"/>
            <a:ext cx="1261872" cy="128016"/>
          </a:xfrm>
          <a:prstGeom prst="rect">
            <a:avLst/>
          </a:prstGeom>
          <a:solidFill>
            <a:srgbClr val="1E7B34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28803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B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4.60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447288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0060A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472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34472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técnica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60520" y="3611880"/>
            <a:ext cx="137160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4160520" y="3611880"/>
            <a:ext cx="1207008" cy="128016"/>
          </a:xfrm>
          <a:prstGeom prst="rect">
            <a:avLst/>
          </a:prstGeom>
          <a:solidFill>
            <a:srgbClr val="0060A9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344728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0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4.40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014216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7A519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142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40142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Productividad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60520" y="4178808"/>
            <a:ext cx="137160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4160520" y="4178808"/>
            <a:ext cx="1234440" cy="128016"/>
          </a:xfrm>
          <a:prstGeom prst="rect">
            <a:avLst/>
          </a:prstGeom>
          <a:solidFill>
            <a:srgbClr val="7A5195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401421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19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4.50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581144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1E7B34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5811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45811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de carga y equipos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160520" y="4745736"/>
            <a:ext cx="137160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4160520" y="4745736"/>
            <a:ext cx="1289304" cy="128016"/>
          </a:xfrm>
          <a:prstGeom prst="rect">
            <a:avLst/>
          </a:prstGeom>
          <a:solidFill>
            <a:srgbClr val="1E7B34"/>
          </a:solidFill>
          <a:ln/>
        </p:spPr>
      </p:sp>
      <p:sp>
        <p:nvSpPr>
          <p:cNvPr id="31" name="Text 29"/>
          <p:cNvSpPr/>
          <p:nvPr/>
        </p:nvSpPr>
        <p:spPr>
          <a:xfrm>
            <a:off x="5577840" y="458114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B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4.70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2960" y="53492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/>
        </p:spPr>
      </p:sp>
      <p:sp>
        <p:nvSpPr>
          <p:cNvPr id="33" name="Text 31"/>
          <p:cNvSpPr/>
          <p:nvPr/>
        </p:nvSpPr>
        <p:spPr>
          <a:xfrm>
            <a:off x="1051560" y="5349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Ponderado (40/30/15/15)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023360" y="5349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E7B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4.54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5074920" y="5449824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1E7B34"/>
          </a:solidFill>
          <a:ln/>
        </p:spPr>
      </p:sp>
      <p:sp>
        <p:nvSpPr>
          <p:cNvPr id="36" name="Text 34"/>
          <p:cNvSpPr/>
          <p:nvPr/>
        </p:nvSpPr>
        <p:spPr>
          <a:xfrm>
            <a:off x="5074920" y="544982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0" y="2514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CONDUCTAS · 30%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583680" y="27889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646920" y="2807208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1E7B34"/>
          </a:solidFill>
          <a:ln/>
        </p:spPr>
      </p:sp>
      <p:sp>
        <p:nvSpPr>
          <p:cNvPr id="40" name="Text 38"/>
          <p:cNvSpPr/>
          <p:nvPr/>
        </p:nvSpPr>
        <p:spPr>
          <a:xfrm>
            <a:off x="9646920" y="28072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109960" y="27889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B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83680" y="31363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Adaptabilidad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646920" y="315468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1E7B34"/>
          </a:solidFill>
          <a:ln/>
        </p:spPr>
      </p:sp>
      <p:sp>
        <p:nvSpPr>
          <p:cNvPr id="44" name="Text 42"/>
          <p:cNvSpPr/>
          <p:nvPr/>
        </p:nvSpPr>
        <p:spPr>
          <a:xfrm>
            <a:off x="9646920" y="315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109960" y="313639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B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83680" y="34838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en equipo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646920" y="3502152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1E7B34"/>
          </a:solidFill>
          <a:ln/>
        </p:spPr>
      </p:sp>
      <p:sp>
        <p:nvSpPr>
          <p:cNvPr id="48" name="Text 46"/>
          <p:cNvSpPr/>
          <p:nvPr/>
        </p:nvSpPr>
        <p:spPr>
          <a:xfrm>
            <a:off x="9646920" y="35021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1109960" y="348386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B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83680" y="38313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Iniciativa e innovación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646920" y="3849624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0060A9"/>
          </a:solidFill>
          <a:ln/>
        </p:spPr>
      </p:sp>
      <p:sp>
        <p:nvSpPr>
          <p:cNvPr id="52" name="Text 50"/>
          <p:cNvSpPr/>
          <p:nvPr/>
        </p:nvSpPr>
        <p:spPr>
          <a:xfrm>
            <a:off x="9646920" y="38496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1109960" y="383133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0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583680" y="41788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Respeto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646920" y="4197096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1E7B34"/>
          </a:solidFill>
          <a:ln/>
        </p:spPr>
      </p:sp>
      <p:sp>
        <p:nvSpPr>
          <p:cNvPr id="56" name="Text 54"/>
          <p:cNvSpPr/>
          <p:nvPr/>
        </p:nvSpPr>
        <p:spPr>
          <a:xfrm>
            <a:off x="9646920" y="41970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1109960" y="417880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B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583680" y="45262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Orientación a la seguridad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646920" y="4544568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1E7B34"/>
          </a:solidFill>
          <a:ln/>
        </p:spPr>
      </p:sp>
      <p:sp>
        <p:nvSpPr>
          <p:cNvPr id="60" name="Text 58"/>
          <p:cNvSpPr/>
          <p:nvPr/>
        </p:nvSpPr>
        <p:spPr>
          <a:xfrm>
            <a:off x="9646920" y="4544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1109960" y="452628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B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583680" y="487375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Orientación a resultados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9646920" y="489204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0060A9"/>
          </a:solidFill>
          <a:ln/>
        </p:spPr>
      </p:sp>
      <p:sp>
        <p:nvSpPr>
          <p:cNvPr id="64" name="Text 62"/>
          <p:cNvSpPr/>
          <p:nvPr/>
        </p:nvSpPr>
        <p:spPr>
          <a:xfrm>
            <a:off x="9646920" y="4892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1109960" y="487375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0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583680" y="534924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/>
        </p:spPr>
      </p:sp>
      <p:sp>
        <p:nvSpPr>
          <p:cNvPr id="67" name="Text 65"/>
          <p:cNvSpPr/>
          <p:nvPr/>
        </p:nvSpPr>
        <p:spPr>
          <a:xfrm>
            <a:off x="6812280" y="5349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conductas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9144000" y="5349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060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4.43</a:t>
            </a:r>
            <a:endParaRPr lang="en-US" sz="1700" dirty="0"/>
          </a:p>
        </p:txBody>
      </p:sp>
      <p:sp>
        <p:nvSpPr>
          <p:cNvPr id="69" name="Shape 67"/>
          <p:cNvSpPr/>
          <p:nvPr/>
        </p:nvSpPr>
        <p:spPr>
          <a:xfrm>
            <a:off x="10195560" y="5449824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0060A9"/>
          </a:solidFill>
          <a:ln/>
        </p:spPr>
      </p:sp>
      <p:sp>
        <p:nvSpPr>
          <p:cNvPr id="70" name="Text 68"/>
          <p:cNvSpPr/>
          <p:nvPr/>
        </p:nvSpPr>
        <p:spPr>
          <a:xfrm>
            <a:off x="10195560" y="544982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22960" y="603504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E7B34"/>
          </a:solidFill>
          <a:ln/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1097280" y="603504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Combinado = 0.70 × 4.54  +  0.30 × 4.43  =  4.51      (Sobre ≥ 4.50)</a:t>
            </a:r>
            <a:endParaRPr lang="en-US" sz="1250" dirty="0"/>
          </a:p>
        </p:txBody>
      </p:sp>
      <p:sp>
        <p:nvSpPr>
          <p:cNvPr id="73" name="Text 71"/>
          <p:cNvSpPr/>
          <p:nvPr/>
        </p:nvSpPr>
        <p:spPr>
          <a:xfrm>
            <a:off x="8138160" y="60350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SOBRE LAS EXPECTATIVAS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2 · BAJO DESEMPEÑO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Jorge Mena — evaluación del trimestre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69164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OPM-009 · Jorge Mena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6916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4E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fichas · 3 supervisores · 1 evento de seguridad · VÁLIDA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· 70%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80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cumplimiento  (topado)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60520" y="3044952"/>
            <a:ext cx="137160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60520" y="3044952"/>
            <a:ext cx="685800" cy="1280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28803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2.50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447288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0060A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472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34472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técnica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60520" y="3611880"/>
            <a:ext cx="137160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4160520" y="3611880"/>
            <a:ext cx="877824" cy="128016"/>
          </a:xfrm>
          <a:prstGeom prst="rect">
            <a:avLst/>
          </a:prstGeom>
          <a:solidFill>
            <a:srgbClr val="0060A9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344728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0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3.20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014216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142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40142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Productividad  (topado)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60520" y="4178808"/>
            <a:ext cx="137160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4160520" y="4178808"/>
            <a:ext cx="685800" cy="1280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401421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2.50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581144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5811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45811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de carga y equipos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160520" y="4745736"/>
            <a:ext cx="1371600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4160520" y="4745736"/>
            <a:ext cx="795528" cy="1280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5577840" y="458114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2.90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2960" y="53492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/>
        </p:spPr>
      </p:sp>
      <p:sp>
        <p:nvSpPr>
          <p:cNvPr id="33" name="Text 31"/>
          <p:cNvSpPr/>
          <p:nvPr/>
        </p:nvSpPr>
        <p:spPr>
          <a:xfrm>
            <a:off x="1051560" y="5349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Ponderado (40/30/15/15)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023360" y="5349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2.77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5074920" y="5449824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5074920" y="544982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Debajo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0" y="2514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CONDUCTAS · 30%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583680" y="27889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646920" y="2807208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C0392B"/>
          </a:solidFill>
          <a:ln/>
        </p:spPr>
      </p:sp>
      <p:sp>
        <p:nvSpPr>
          <p:cNvPr id="40" name="Text 38"/>
          <p:cNvSpPr/>
          <p:nvPr/>
        </p:nvSpPr>
        <p:spPr>
          <a:xfrm>
            <a:off x="9646920" y="28072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Debajo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109960" y="27889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83680" y="31363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Adaptabilidad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646920" y="315468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0060A9"/>
          </a:solidFill>
          <a:ln/>
        </p:spPr>
      </p:sp>
      <p:sp>
        <p:nvSpPr>
          <p:cNvPr id="44" name="Text 42"/>
          <p:cNvSpPr/>
          <p:nvPr/>
        </p:nvSpPr>
        <p:spPr>
          <a:xfrm>
            <a:off x="9646920" y="315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109960" y="313639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0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83680" y="34838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en equipo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646920" y="3502152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C0392B"/>
          </a:solidFill>
          <a:ln/>
        </p:spPr>
      </p:sp>
      <p:sp>
        <p:nvSpPr>
          <p:cNvPr id="48" name="Text 46"/>
          <p:cNvSpPr/>
          <p:nvPr/>
        </p:nvSpPr>
        <p:spPr>
          <a:xfrm>
            <a:off x="9646920" y="35021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Debajo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1109960" y="348386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83680" y="38313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Iniciativa e innovación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646920" y="3849624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C0392B"/>
          </a:solidFill>
          <a:ln/>
        </p:spPr>
      </p:sp>
      <p:sp>
        <p:nvSpPr>
          <p:cNvPr id="52" name="Text 50"/>
          <p:cNvSpPr/>
          <p:nvPr/>
        </p:nvSpPr>
        <p:spPr>
          <a:xfrm>
            <a:off x="9646920" y="38496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Debajo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1109960" y="383133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583680" y="41788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Respeto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646920" y="4197096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0060A9"/>
          </a:solidFill>
          <a:ln/>
        </p:spPr>
      </p:sp>
      <p:sp>
        <p:nvSpPr>
          <p:cNvPr id="56" name="Text 54"/>
          <p:cNvSpPr/>
          <p:nvPr/>
        </p:nvSpPr>
        <p:spPr>
          <a:xfrm>
            <a:off x="9646920" y="41970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1109960" y="417880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0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583680" y="45262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Orientación a la seguridad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646920" y="4544568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C0392B"/>
          </a:solidFill>
          <a:ln/>
        </p:spPr>
      </p:sp>
      <p:sp>
        <p:nvSpPr>
          <p:cNvPr id="60" name="Text 58"/>
          <p:cNvSpPr/>
          <p:nvPr/>
        </p:nvSpPr>
        <p:spPr>
          <a:xfrm>
            <a:off x="9646920" y="4544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Debajo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1109960" y="452628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583680" y="487375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Orientación a resultados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9646920" y="489204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C0392B"/>
          </a:solidFill>
          <a:ln/>
        </p:spPr>
      </p:sp>
      <p:sp>
        <p:nvSpPr>
          <p:cNvPr id="64" name="Text 62"/>
          <p:cNvSpPr/>
          <p:nvPr/>
        </p:nvSpPr>
        <p:spPr>
          <a:xfrm>
            <a:off x="9646920" y="4892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Debajo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1109960" y="487375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583680" y="534924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/>
        </p:spPr>
      </p:sp>
      <p:sp>
        <p:nvSpPr>
          <p:cNvPr id="67" name="Text 65"/>
          <p:cNvSpPr/>
          <p:nvPr/>
        </p:nvSpPr>
        <p:spPr>
          <a:xfrm>
            <a:off x="6812280" y="5349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conductas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9144000" y="5349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1.57</a:t>
            </a:r>
            <a:endParaRPr lang="en-US" sz="1700" dirty="0"/>
          </a:p>
        </p:txBody>
      </p:sp>
      <p:sp>
        <p:nvSpPr>
          <p:cNvPr id="69" name="Shape 67"/>
          <p:cNvSpPr/>
          <p:nvPr/>
        </p:nvSpPr>
        <p:spPr>
          <a:xfrm>
            <a:off x="10195560" y="5449824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/>
        </p:spPr>
      </p:sp>
      <p:sp>
        <p:nvSpPr>
          <p:cNvPr id="70" name="Text 68"/>
          <p:cNvSpPr/>
          <p:nvPr/>
        </p:nvSpPr>
        <p:spPr>
          <a:xfrm>
            <a:off x="10195560" y="544982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Debajo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22960" y="603504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1097280" y="603504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Combinado = 0.70 × 2.77  +  0.30 × 1.57  =  2.41      (Cumple exige ≥ 3.00)</a:t>
            </a:r>
            <a:endParaRPr lang="en-US" sz="1250" dirty="0"/>
          </a:p>
        </p:txBody>
      </p:sp>
      <p:sp>
        <p:nvSpPr>
          <p:cNvPr id="73" name="Text 71"/>
          <p:cNvSpPr/>
          <p:nvPr/>
        </p:nvSpPr>
        <p:spPr>
          <a:xfrm>
            <a:off x="8138160" y="60350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POR DEBAJO · ACTIVA PIP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MUESTRAN LOS DOS CASOS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Tres lecciones del modelo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109728" cy="777240"/>
          </a:xfrm>
          <a:prstGeom prst="roundRect">
            <a:avLst>
              <a:gd name="adj" fmla="val 41667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 evento de seguridad pesa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Jorge Mena, un solo turno con incidente topó Seguridad y Productividad en 2.50 y arrastró todo el trimestre.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3474720"/>
            <a:ext cx="109728" cy="777240"/>
          </a:xfrm>
          <a:prstGeom prst="roundRect">
            <a:avLst>
              <a:gd name="adj" fmla="val 41667"/>
            </a:avLst>
          </a:prstGeom>
          <a:solidFill>
            <a:srgbClr val="1E7B34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383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“Sobre” exige consistencia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79476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 Vega llegó a 4.51 con casi todo entre Bueno y Excelente. Basta una caída para volver a “Cumple”.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66344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51560" y="4892040"/>
            <a:ext cx="109728" cy="777240"/>
          </a:xfrm>
          <a:prstGeom prst="roundRect">
            <a:avLst>
              <a:gd name="adj" fmla="val 41667"/>
            </a:avLst>
          </a:prstGeom>
          <a:solidFill>
            <a:srgbClr val="EF7D00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800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 conducta no es decorativa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521208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 30% y, además, un “Por Debajo” bloquea cualquier “Sobre” final.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85216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002E6D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8521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cálculo, para todos.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y conductas viven en la misma escala 1-5, así “Cumple” significa lo mismo en ambas dimensiones.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PROTOTIPO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 ficha, en el celular del supervisor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37560" cy="3200400"/>
          </a:xfrm>
          <a:prstGeom prst="roundRect">
            <a:avLst>
              <a:gd name="adj" fmla="val 2857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060A9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Registrar turno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32004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OPM y tipo de carga. Solo aparecen las actividades que aplican; se califica tocando 1 a 5. Los promedios se calculan solos.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337560" cy="3200400"/>
          </a:xfrm>
          <a:prstGeom prst="roundRect">
            <a:avLst>
              <a:gd name="adj" fmla="val 2857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574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02E6D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Control trimestral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2004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Fichas acumuladas por OPM, barra hacia el piso de 8, supervisores distintos y semáforo de validez.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337560" cy="3200400"/>
          </a:xfrm>
          <a:prstGeom prst="roundRect">
            <a:avLst>
              <a:gd name="adj" fmla="val 2857"/>
            </a:avLst>
          </a:prstGeom>
          <a:solidFill>
            <a:srgbClr val="F4F7FC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14300" dist="38100" dir="5400000">
              <a:srgbClr val="7C93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20574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F7D00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8388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E6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Evaluar desempeño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83880" y="32004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se habilita si la evidencia es válida. Objetivos ya consolidados + las 7 conductas → calificación final.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2578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257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2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del prototipo: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 para pilotear con los supervisores y validar el modelo en muelle. Para producción con los 250 OPM se requiere base de datos, autenticación y la rotación programada automática.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E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EF7D00"/>
          </a:solidFill>
          <a:ln/>
        </p:spPr>
      </p:sp>
      <p:sp>
        <p:nvSpPr>
          <p:cNvPr id="3" name="Shape 1"/>
          <p:cNvSpPr/>
          <p:nvPr/>
        </p:nvSpPr>
        <p:spPr>
          <a:xfrm>
            <a:off x="1389888" y="64008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0060A9"/>
          </a:solidFill>
          <a:ln/>
        </p:spPr>
      </p:sp>
      <p:sp>
        <p:nvSpPr>
          <p:cNvPr id="4" name="Shape 2"/>
          <p:cNvSpPr/>
          <p:nvPr/>
        </p:nvSpPr>
        <p:spPr>
          <a:xfrm>
            <a:off x="1956816" y="64008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12437F"/>
          </a:solidFill>
          <a:ln/>
        </p:spPr>
      </p:sp>
      <p:sp>
        <p:nvSpPr>
          <p:cNvPr id="5" name="Shape 3"/>
          <p:cNvSpPr/>
          <p:nvPr/>
        </p:nvSpPr>
        <p:spPr>
          <a:xfrm>
            <a:off x="2523744" y="64008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EF7D00"/>
          </a:solidFill>
          <a:ln/>
        </p:spPr>
      </p:sp>
      <p:sp>
        <p:nvSpPr>
          <p:cNvPr id="6" name="Shape 4"/>
          <p:cNvSpPr/>
          <p:nvPr/>
        </p:nvSpPr>
        <p:spPr>
          <a:xfrm>
            <a:off x="3090672" y="64008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0060A9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64008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12437F"/>
          </a:solidFill>
          <a:ln/>
        </p:spPr>
      </p:sp>
      <p:sp>
        <p:nvSpPr>
          <p:cNvPr id="8" name="Shape 6"/>
          <p:cNvSpPr/>
          <p:nvPr/>
        </p:nvSpPr>
        <p:spPr>
          <a:xfrm>
            <a:off x="4224528" y="64008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EF7D00"/>
          </a:solidFill>
          <a:ln/>
        </p:spPr>
      </p:sp>
      <p:sp>
        <p:nvSpPr>
          <p:cNvPr id="9" name="Shape 7"/>
          <p:cNvSpPr/>
          <p:nvPr/>
        </p:nvSpPr>
        <p:spPr>
          <a:xfrm>
            <a:off x="4791456" y="64008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0060A9"/>
          </a:solidFill>
          <a:ln/>
        </p:spPr>
      </p:sp>
      <p:sp>
        <p:nvSpPr>
          <p:cNvPr id="10" name="Shape 8"/>
          <p:cNvSpPr/>
          <p:nvPr/>
        </p:nvSpPr>
        <p:spPr>
          <a:xfrm>
            <a:off x="5358384" y="640080"/>
            <a:ext cx="457200" cy="310896"/>
          </a:xfrm>
          <a:prstGeom prst="roundRect">
            <a:avLst>
              <a:gd name="adj" fmla="val 8824"/>
            </a:avLst>
          </a:prstGeom>
          <a:solidFill>
            <a:srgbClr val="12437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860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Trazable · Justo · Basado en evidencia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turno registrado se convierte en evidencia. Ninguna calificación se asigna sin ella, y ningún resultado ignora cómo se logró.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22960" y="6126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COSCO SHIPPING Ports Chancay Perú S.A. · Sistema de Gestión del Desempeño CSPCP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2026-07-12T15:34:27Z</dcterms:created>
  <dcterms:modified xsi:type="dcterms:W3CDTF">2026-07-12T15:34:27Z</dcterms:modified>
</cp:coreProperties>
</file>