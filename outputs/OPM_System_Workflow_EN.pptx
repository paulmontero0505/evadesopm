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e3794049d4131" /><Relationship Type="http://schemas.openxmlformats.org/officeDocument/2006/relationships/extended-properties" Target="/docProps/app.xml" Id="R4d52b5c80989493d" /><Relationship Type="http://schemas.openxmlformats.org/officeDocument/2006/relationships/officeDocument" Target="/ppt/presentation.xml" Id="Rb8018baf607c4a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4615aff4c24bc9"/>
  </p:sldMasterIdLst>
  <p:notesMasterIdLst>
    <p:notesMasterId xmlns:r="http://schemas.openxmlformats.org/officeDocument/2006/relationships" r:id="R61bd1414601b42c9"/>
  </p:notesMasterIdLst>
  <p:sldIdLst>
    <p:sldId xmlns:r="http://schemas.openxmlformats.org/officeDocument/2006/relationships" id="256" r:id="R93e818cdb00a4d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9993dbe64434e" /><Relationship Type="http://schemas.openxmlformats.org/officeDocument/2006/relationships/slideMaster" Target="/ppt/slideMasters/slideMaster1.xml" Id="Rb94615aff4c24bc9" /><Relationship Type="http://schemas.openxmlformats.org/officeDocument/2006/relationships/notesMaster" Target="/ppt/notesMasters/notesMaster1.xml" Id="R61bd1414601b42c9" /><Relationship Type="http://schemas.openxmlformats.org/officeDocument/2006/relationships/presProps" Target="/ppt/presProps.xml" Id="R3523bd5973d9458d" /><Relationship Type="http://schemas.openxmlformats.org/officeDocument/2006/relationships/tableStyles" Target="/ppt/tableStyles.xml" Id="R1c11235de860470e" /><Relationship Type="http://schemas.openxmlformats.org/officeDocument/2006/relationships/slide" Target="/ppt/slides/slide1.xml" Id="R93e818cdb00a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9db1d217c640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92f6e7b9a4d68" /><Relationship Type="http://schemas.openxmlformats.org/officeDocument/2006/relationships/notesMaster" Target="/ppt/notesMasters/notesMaster1.xml" Id="Rf2a2a356f742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49082ca2c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4981f2c3d4d91" /><Relationship Type="http://schemas.openxmlformats.org/officeDocument/2006/relationships/slideLayout" Target="/ppt/slideLayouts/slideLayout1.xml" Id="R09667e61736041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67e61736041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ab9db23cf4950" /><Relationship Type="http://schemas.openxmlformats.org/officeDocument/2006/relationships/image" Target="/ppt/media/image.png" Id="Raabcbfc05b0f48e1" /><Relationship Type="http://schemas.openxmlformats.org/officeDocument/2006/relationships/notesSlide" Target="/ppt/notesSlides/notesSlide1.xml" Id="R5ad085eb7b6e40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61625F9D-996B-45FC-A219-705FEEE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60A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0A9"/>
                </a:solidFill>
                <a:latin typeface="Arial"/>
                <a:ea typeface="Arial"/>
                <a:cs typeface="Arial"/>
              </a:rPr>
              <a:t>COSCO SHIPPING PORTS CHANCAY  |  OPM PERFORMANCE SYSTEM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5A7FC6-D875-40BF-8855-6A92B82A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00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2E6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2E6D"/>
                </a:solidFill>
                <a:latin typeface="Arial"/>
                <a:ea typeface="Arial"/>
                <a:cs typeface="Arial"/>
              </a:rPr>
              <a:t>A complete shift-to-performance workflow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36593A5-93DC-4768-8D93-7BA7E935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system connects daily observations with validated quarterly performance results.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cbfc05b0f48e1"/>
          <a:stretch xmlns:a="http://schemas.openxmlformats.org/drawingml/2006/main"/>
        </p:blipFill>
        <p:spPr>
          <a:xfrm xmlns:a="http://schemas.openxmlformats.org/drawingml/2006/main">
            <a:off x="10152617" y="371475"/>
            <a:ext cx="1230791" cy="742950"/>
          </a:xfrm>
          <a:prstGeom xmlns:a="http://schemas.openxmlformats.org/drawingml/2006/main" prst="rect">
            <a:avLst/>
          </a:prstGeom>
        </p:spPr>
      </p:pic>
      <p:sp>
        <p:nvSpPr>
          <p:cNvPr id="5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8E6F42D0-0C95-4E0B-9EE2-61924B5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00350"/>
            <a:ext cx="996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1">
            <a:extLst xmlns:a="http://schemas.openxmlformats.org/drawingml/2006/main">
              <a:ext uri="{FF2B5EF4-FFF2-40B4-BE49-F238E27FC236}">
                <a16:creationId xmlns:a16="http://schemas.microsoft.com/office/drawing/2014/main" id="{D5ADD2DD-C2C6-4E8A-9AE4-9EE064DF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924050" cy="28575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AB642546-BA84-4C97-9B11-C3B6D335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0A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4A0328E7-B649-4D97-96D3-6039F77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5747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A0AF5F1E-6E2A-41FF-B026-6BA3F5B4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10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A1E8E8C2-3FC8-445C-ABE3-D51C62BB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600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75569"/>
                </a:solidFill>
                <a:latin typeface="Arial"/>
                <a:ea typeface="Arial"/>
                <a:cs typeface="Arial"/>
              </a:rPr>
              <a:t>Enter employee credentials to access the OPM Performance System.</a:t>
            </a:r>
          </a:p>
        </p:txBody>
      </p:sp>
      <p:sp>
        <p:nvSpPr>
          <p:cNvPr id="11" name="phase-2">
            <a:extLst xmlns:a="http://schemas.openxmlformats.org/drawingml/2006/main">
              <a:ext uri="{FF2B5EF4-FFF2-40B4-BE49-F238E27FC236}">
                <a16:creationId xmlns:a16="http://schemas.microsoft.com/office/drawing/2014/main" id="{FA8A56A5-370D-432F-9BCB-33BCE9DD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1924050" cy="28575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dot-2">
            <a:extLst xmlns:a="http://schemas.openxmlformats.org/drawingml/2006/main">
              <a:ext uri="{FF2B5EF4-FFF2-40B4-BE49-F238E27FC236}">
                <a16:creationId xmlns:a16="http://schemas.microsoft.com/office/drawing/2014/main" id="{DFF6FE68-2E28-4B46-9B7C-0A74A62D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B3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num-2">
            <a:extLst xmlns:a="http://schemas.openxmlformats.org/drawingml/2006/main">
              <a:ext uri="{FF2B5EF4-FFF2-40B4-BE49-F238E27FC236}">
                <a16:creationId xmlns:a16="http://schemas.microsoft.com/office/drawing/2014/main" id="{12DC013C-DBB9-448F-A3AE-58D59FE1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5747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1200BC10-7256-45B8-B004-15DEC4EC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9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Set the shift</a:t>
            </a:r>
          </a:p>
        </p:txBody>
      </p:sp>
      <p:sp>
        <p:nvSpPr>
          <p:cNvPr id="15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3DED2480-6FF7-49C1-A2F8-C8F01A30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57600"/>
            <a:ext cx="1600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75569"/>
                </a:solidFill>
                <a:latin typeface="Arial"/>
                <a:ea typeface="Arial"/>
                <a:cs typeface="Arial"/>
              </a:rPr>
              <a:t>Choose the work date and Day or Night shift before recording activity.</a:t>
            </a:r>
          </a:p>
        </p:txBody>
      </p:sp>
      <p:sp>
        <p:nvSpPr>
          <p:cNvPr id="16" name="phase-3">
            <a:extLst xmlns:a="http://schemas.openxmlformats.org/drawingml/2006/main">
              <a:ext uri="{FF2B5EF4-FFF2-40B4-BE49-F238E27FC236}">
                <a16:creationId xmlns:a16="http://schemas.microsoft.com/office/drawing/2014/main" id="{F2989787-3B69-49BD-8188-BFED262B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1924050" cy="28575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163F839A-48CC-4942-AA6C-D181D44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B654E81D-DADD-4748-B852-0CA42863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5747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6BF9733E-F2C0-476B-8E2E-CC94F8BE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Record executions</a:t>
            </a:r>
          </a:p>
        </p:txBody>
      </p:sp>
      <p:sp>
        <p:nvSpPr>
          <p:cNvPr id="20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15716F24-CD6A-4224-B023-53166D51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57600"/>
            <a:ext cx="1600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75569"/>
                </a:solidFill>
                <a:latin typeface="Arial"/>
                <a:ea typeface="Arial"/>
                <a:cs typeface="Arial"/>
              </a:rPr>
              <a:t>Select the OPM, operation type and rate every required activity. Add notes or evidence when needed.</a:t>
            </a:r>
          </a:p>
        </p:txBody>
      </p:sp>
      <p:sp>
        <p:nvSpPr>
          <p:cNvPr id="21" name="phase-4">
            <a:extLst xmlns:a="http://schemas.openxmlformats.org/drawingml/2006/main">
              <a:ext uri="{FF2B5EF4-FFF2-40B4-BE49-F238E27FC236}">
                <a16:creationId xmlns:a16="http://schemas.microsoft.com/office/drawing/2014/main" id="{1B28FA41-BE17-4893-A361-D8821684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1924050" cy="28575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dot-4">
            <a:extLst xmlns:a="http://schemas.openxmlformats.org/drawingml/2006/main">
              <a:ext uri="{FF2B5EF4-FFF2-40B4-BE49-F238E27FC236}">
                <a16:creationId xmlns:a16="http://schemas.microsoft.com/office/drawing/2014/main" id="{1819C377-3A5F-4784-9EE2-71042DA3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19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num-4">
            <a:extLst xmlns:a="http://schemas.openxmlformats.org/drawingml/2006/main">
              <a:ext uri="{FF2B5EF4-FFF2-40B4-BE49-F238E27FC236}">
                <a16:creationId xmlns:a16="http://schemas.microsoft.com/office/drawing/2014/main" id="{B5225168-DFB1-4FCF-B5B3-4F6FEA77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5747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E9B8F324-5869-42B8-AA80-C2E7152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9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Track coverage</a:t>
            </a:r>
          </a:p>
        </p:txBody>
      </p:sp>
      <p:sp>
        <p:nvSpPr>
          <p:cNvPr id="25" name="phase-body-4">
            <a:extLst xmlns:a="http://schemas.openxmlformats.org/drawingml/2006/main">
              <a:ext uri="{FF2B5EF4-FFF2-40B4-BE49-F238E27FC236}">
                <a16:creationId xmlns:a16="http://schemas.microsoft.com/office/drawing/2014/main" id="{5E4C86BB-67C2-42D2-9248-77DBB88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57600"/>
            <a:ext cx="1600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75569"/>
                </a:solidFill>
                <a:latin typeface="Arial"/>
                <a:ea typeface="Arial"/>
                <a:cs typeface="Arial"/>
              </a:rPr>
              <a:t>Review daily, weekly and quarterly records, including safety events and critical behaviors.</a:t>
            </a:r>
          </a:p>
        </p:txBody>
      </p:sp>
      <p:sp>
        <p:nvSpPr>
          <p:cNvPr id="26" name="phase-5">
            <a:extLst xmlns:a="http://schemas.openxmlformats.org/drawingml/2006/main">
              <a:ext uri="{FF2B5EF4-FFF2-40B4-BE49-F238E27FC236}">
                <a16:creationId xmlns:a16="http://schemas.microsoft.com/office/drawing/2014/main" id="{AA9808F0-9946-4400-8F67-C8E53490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24050" cy="28575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dot-5">
            <a:extLst xmlns:a="http://schemas.openxmlformats.org/drawingml/2006/main">
              <a:ext uri="{FF2B5EF4-FFF2-40B4-BE49-F238E27FC236}">
                <a16:creationId xmlns:a16="http://schemas.microsoft.com/office/drawing/2014/main" id="{E409664C-CBB0-4656-B8B3-75F44DC4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E6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num-5">
            <a:extLst xmlns:a="http://schemas.openxmlformats.org/drawingml/2006/main">
              <a:ext uri="{FF2B5EF4-FFF2-40B4-BE49-F238E27FC236}">
                <a16:creationId xmlns:a16="http://schemas.microsoft.com/office/drawing/2014/main" id="{280A5151-444F-4BCE-B2B6-79BDD0A5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5747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phase-title-5">
            <a:extLst xmlns:a="http://schemas.openxmlformats.org/drawingml/2006/main">
              <a:ext uri="{FF2B5EF4-FFF2-40B4-BE49-F238E27FC236}">
                <a16:creationId xmlns:a16="http://schemas.microsoft.com/office/drawing/2014/main" id="{211F894D-541F-41E1-8E4C-5D15DE2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9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Evaluate performance</a:t>
            </a:r>
          </a:p>
        </p:txBody>
      </p:sp>
      <p:sp>
        <p:nvSpPr>
          <p:cNvPr id="30" name="phase-body-5">
            <a:extLst xmlns:a="http://schemas.openxmlformats.org/drawingml/2006/main">
              <a:ext uri="{FF2B5EF4-FFF2-40B4-BE49-F238E27FC236}">
                <a16:creationId xmlns:a16="http://schemas.microsoft.com/office/drawing/2014/main" id="{6F9BB91D-8CE3-4AEA-9D20-6903EE2D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657600"/>
            <a:ext cx="1600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75569"/>
                </a:solidFill>
                <a:latin typeface="Arial"/>
                <a:ea typeface="Arial"/>
                <a:cs typeface="Arial"/>
              </a:rPr>
              <a:t>Combine objective results (70%) and corporate behaviors (30%) for the quarterly outcome.</a:t>
            </a:r>
          </a:p>
        </p:txBody>
      </p:sp>
      <p:sp>
        <p:nvSpPr>
          <p:cNvPr id="31" name="outcome">
            <a:extLst xmlns:a="http://schemas.openxmlformats.org/drawingml/2006/main">
              <a:ext uri="{FF2B5EF4-FFF2-40B4-BE49-F238E27FC236}">
                <a16:creationId xmlns:a16="http://schemas.microsoft.com/office/drawing/2014/main" id="{55A80492-6714-4CF4-BC17-8B04DB7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049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87C9977B-2BC2-41C4-ABF3-EA3B7DD9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60A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0A9"/>
                </a:solidFill>
                <a:latin typeface="Arial"/>
                <a:ea typeface="Arial"/>
                <a:cs typeface="Arial"/>
              </a:rPr>
              <a:t>ADMIN VIEW</a:t>
            </a:r>
          </a:p>
        </p:txBody>
      </p:sp>
      <p:sp>
        <p:nvSpPr>
          <p:cNvPr id="33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CBC78D6B-B8CF-4029-9C5D-4AB078DF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769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F172A"/>
                </a:solidFill>
                <a:latin typeface="Arial"/>
                <a:ea typeface="Arial"/>
                <a:cs typeface="Arial"/>
              </a:rPr>
              <a:t>Manage OPM and user accounts, then monitor complete evidence and final evaluation readiness in one place.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4B57802F-16CF-4526-B711-156D3760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8444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2026-07-23T23:01:36.0000000Z</dcterms:created>
  <dcterms:modified xsi:type="dcterms:W3CDTF">2026-07-23T23:01:36.0000000Z</dcterms:modified>
</coreProperties>
</file>