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f58d88d5b84e91" /><Relationship Type="http://schemas.openxmlformats.org/officeDocument/2006/relationships/extended-properties" Target="/docProps/app.xml" Id="R088daceda61b49c9" /><Relationship Type="http://schemas.openxmlformats.org/officeDocument/2006/relationships/officeDocument" Target="/ppt/presentation.xml" Id="R284d053a3cd148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ce2be6b03b459f"/>
  </p:sldMasterIdLst>
  <p:notesMasterIdLst>
    <p:notesMasterId xmlns:r="http://schemas.openxmlformats.org/officeDocument/2006/relationships" r:id="Rcb6e6e3a90ec4c2e"/>
  </p:notesMasterIdLst>
  <p:sldIdLst>
    <p:sldId xmlns:r="http://schemas.openxmlformats.org/officeDocument/2006/relationships" id="256" r:id="R6ae98e75e15143f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996888387540aa" /><Relationship Type="http://schemas.openxmlformats.org/officeDocument/2006/relationships/slideMaster" Target="/ppt/slideMasters/slideMaster1.xml" Id="Ra4ce2be6b03b459f" /><Relationship Type="http://schemas.openxmlformats.org/officeDocument/2006/relationships/notesMaster" Target="/ppt/notesMasters/notesMaster1.xml" Id="Rcb6e6e3a90ec4c2e" /><Relationship Type="http://schemas.openxmlformats.org/officeDocument/2006/relationships/presProps" Target="/ppt/presProps.xml" Id="R16cfed5b80454940" /><Relationship Type="http://schemas.openxmlformats.org/officeDocument/2006/relationships/tableStyles" Target="/ppt/tableStyles.xml" Id="R060f30fbcc984b7c" /><Relationship Type="http://schemas.openxmlformats.org/officeDocument/2006/relationships/slide" Target="/ppt/slides/slide1.xml" Id="R6ae98e75e15143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7fd5781dc142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f94ab87acb46cd" /><Relationship Type="http://schemas.openxmlformats.org/officeDocument/2006/relationships/notesMaster" Target="/ppt/notesMasters/notesMaster1.xml" Id="R1db8b350158e42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7c4993b8634f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6edc77f0ac41e3" /><Relationship Type="http://schemas.openxmlformats.org/officeDocument/2006/relationships/slideLayout" Target="/ppt/slideLayouts/slideLayout1.xml" Id="R4f69ed2796324a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69ed2796324a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2a49de74d4b33" /><Relationship Type="http://schemas.openxmlformats.org/officeDocument/2006/relationships/image" Target="/ppt/media/image.png" Id="R3f3417701adf47e2" /><Relationship Type="http://schemas.openxmlformats.org/officeDocument/2006/relationships/notesSlide" Target="/ppt/notesSlides/notesSlide1.xml" Id="R2b256dd8342545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op-rule">
            <a:extLst xmlns:a="http://schemas.openxmlformats.org/drawingml/2006/main">
              <a:ext uri="{FF2B5EF4-FFF2-40B4-BE49-F238E27FC236}">
                <a16:creationId xmlns:a16="http://schemas.microsoft.com/office/drawing/2014/main" id="{88C1D8DC-F937-47A0-8D81-A29B33E3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9F95A60-A131-4A7B-B673-E360C934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63A7A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063A7A"/>
                </a:solidFill>
                <a:latin typeface="Georgia"/>
                <a:ea typeface="Georgia"/>
                <a:cs typeface="Georgia"/>
              </a:rPr>
              <a:t>The prototype — scoring criteria</a:t>
            </a:r>
          </a:p>
        </p:txBody>
      </p:sp>
      <p:sp>
        <p:nvSpPr>
          <p:cNvPr id="3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42D0FA37-D641-42C0-B379-9B8E43CE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20193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7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3377F0E9-5668-4D5E-BE7C-71971D5B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4705350" cy="4362450"/>
          </a:xfrm>
          <a:prstGeom xmlns:a="http://schemas.openxmlformats.org/drawingml/2006/main" prst="roundRect">
            <a:avLst>
              <a:gd name="adj" fmla="val 2620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3417701adf47e2"/>
          <a:stretch xmlns:a="http://schemas.openxmlformats.org/drawingml/2006/main"/>
        </p:blipFill>
        <p:spPr>
          <a:xfrm xmlns:a="http://schemas.openxmlformats.org/drawingml/2006/main">
            <a:off x="1653654" y="1476375"/>
            <a:ext cx="2960142" cy="4171950"/>
          </a:xfrm>
          <a:prstGeom xmlns:a="http://schemas.openxmlformats.org/drawingml/2006/main" prst="roundRect">
            <a:avLst>
              <a:gd name="adj" fmla="val 1826"/>
            </a:avLst>
          </a:prstGeom>
        </p:spPr>
      </p:pic>
      <p:sp>
        <p:nvSpPr>
          <p:cNvPr id="6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835A78EE-E24F-4AC7-8EA2-E486C2CF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63A7A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063A7A"/>
                </a:solidFill>
                <a:latin typeface="Georgia"/>
                <a:ea typeface="Georgia"/>
                <a:cs typeface="Georgia"/>
              </a:rPr>
              <a:t>The score is explained before it is assigned</a:t>
            </a:r>
          </a:p>
        </p:txBody>
      </p:sp>
      <p:sp>
        <p:nvSpPr>
          <p:cNvPr id="7" name="right-copy">
            <a:extLst xmlns:a="http://schemas.openxmlformats.org/drawingml/2006/main">
              <a:ext uri="{FF2B5EF4-FFF2-40B4-BE49-F238E27FC236}">
                <a16:creationId xmlns:a16="http://schemas.microsoft.com/office/drawing/2014/main" id="{A5275261-EF6B-4017-88D5-3C073E8B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14550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6577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36577F"/>
                </a:solidFill>
                <a:latin typeface="Arial"/>
                <a:ea typeface="Arial"/>
                <a:cs typeface="Arial"/>
              </a:rPr>
              <a:t>For each task, the supervisor can open the scoring rubric and compare the observed performance with the five defined levels.</a:t>
            </a:r>
          </a:p>
        </p:txBody>
      </p:sp>
      <p:sp>
        <p:nvSpPr>
          <p:cNvPr id="8" name="level-box-1">
            <a:extLst xmlns:a="http://schemas.openxmlformats.org/drawingml/2006/main">
              <a:ext uri="{FF2B5EF4-FFF2-40B4-BE49-F238E27FC236}">
                <a16:creationId xmlns:a16="http://schemas.microsoft.com/office/drawing/2014/main" id="{AAA750AE-6A41-4B1F-9527-FEF45B11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352425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C73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evel-number-1">
            <a:extLst xmlns:a="http://schemas.openxmlformats.org/drawingml/2006/main">
              <a:ext uri="{FF2B5EF4-FFF2-40B4-BE49-F238E27FC236}">
                <a16:creationId xmlns:a16="http://schemas.microsoft.com/office/drawing/2014/main" id="{9D338400-FC2D-41FC-B733-E6C6A6E2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990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level-label-1">
            <a:extLst xmlns:a="http://schemas.openxmlformats.org/drawingml/2006/main">
              <a:ext uri="{FF2B5EF4-FFF2-40B4-BE49-F238E27FC236}">
                <a16:creationId xmlns:a16="http://schemas.microsoft.com/office/drawing/2014/main" id="{E06B47E0-BBCA-448E-BBDA-0AFAB7EC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0003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3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B68"/>
                </a:solidFill>
                <a:latin typeface="Arial"/>
                <a:ea typeface="Arial"/>
                <a:cs typeface="Arial"/>
              </a:rPr>
              <a:t>Unsatisfactory</a:t>
            </a:r>
          </a:p>
        </p:txBody>
      </p:sp>
      <p:sp>
        <p:nvSpPr>
          <p:cNvPr id="11" name="level-box-2">
            <a:extLst xmlns:a="http://schemas.openxmlformats.org/drawingml/2006/main">
              <a:ext uri="{FF2B5EF4-FFF2-40B4-BE49-F238E27FC236}">
                <a16:creationId xmlns:a16="http://schemas.microsoft.com/office/drawing/2014/main" id="{B5EBDC3F-758E-4BEE-AFEB-D37E4293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0425"/>
            <a:ext cx="352425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83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evel-number-2">
            <a:extLst xmlns:a="http://schemas.openxmlformats.org/drawingml/2006/main">
              <a:ext uri="{FF2B5EF4-FFF2-40B4-BE49-F238E27FC236}">
                <a16:creationId xmlns:a16="http://schemas.microsoft.com/office/drawing/2014/main" id="{93866AE3-E83B-4644-BF70-B8F8FB4D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57575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level-label-2">
            <a:extLst xmlns:a="http://schemas.openxmlformats.org/drawingml/2006/main">
              <a:ext uri="{FF2B5EF4-FFF2-40B4-BE49-F238E27FC236}">
                <a16:creationId xmlns:a16="http://schemas.microsoft.com/office/drawing/2014/main" id="{D686386D-0B9C-4B22-BC9A-D094AA5D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4480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3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B68"/>
                </a:solidFill>
                <a:latin typeface="Arial"/>
                <a:ea typeface="Arial"/>
                <a:cs typeface="Arial"/>
              </a:rPr>
              <a:t>Fair</a:t>
            </a:r>
          </a:p>
        </p:txBody>
      </p:sp>
      <p:sp>
        <p:nvSpPr>
          <p:cNvPr id="14" name="level-box-3">
            <a:extLst xmlns:a="http://schemas.openxmlformats.org/drawingml/2006/main">
              <a:ext uri="{FF2B5EF4-FFF2-40B4-BE49-F238E27FC236}">
                <a16:creationId xmlns:a16="http://schemas.microsoft.com/office/drawing/2014/main" id="{6A533FD9-A280-4779-B2E3-FEB17AD8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352425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BD8C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level-number-3">
            <a:extLst xmlns:a="http://schemas.openxmlformats.org/drawingml/2006/main">
              <a:ext uri="{FF2B5EF4-FFF2-40B4-BE49-F238E27FC236}">
                <a16:creationId xmlns:a16="http://schemas.microsoft.com/office/drawing/2014/main" id="{747F9083-450A-4DB2-AFBA-D0C59C65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level-label-3">
            <a:extLst xmlns:a="http://schemas.openxmlformats.org/drawingml/2006/main">
              <a:ext uri="{FF2B5EF4-FFF2-40B4-BE49-F238E27FC236}">
                <a16:creationId xmlns:a16="http://schemas.microsoft.com/office/drawing/2014/main" id="{CFE93556-CE2E-406E-889E-E1829A10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8957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3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B68"/>
                </a:solidFill>
                <a:latin typeface="Arial"/>
                <a:ea typeface="Arial"/>
                <a:cs typeface="Arial"/>
              </a:rPr>
              <a:t>Acceptable</a:t>
            </a:r>
          </a:p>
        </p:txBody>
      </p:sp>
      <p:sp>
        <p:nvSpPr>
          <p:cNvPr id="17" name="level-box-4">
            <a:extLst xmlns:a="http://schemas.openxmlformats.org/drawingml/2006/main">
              <a:ext uri="{FF2B5EF4-FFF2-40B4-BE49-F238E27FC236}">
                <a16:creationId xmlns:a16="http://schemas.microsoft.com/office/drawing/2014/main" id="{86AA9B7C-E61C-45B9-B292-527B521E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95775"/>
            <a:ext cx="352425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872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level-number-4">
            <a:extLst xmlns:a="http://schemas.openxmlformats.org/drawingml/2006/main">
              <a:ext uri="{FF2B5EF4-FFF2-40B4-BE49-F238E27FC236}">
                <a16:creationId xmlns:a16="http://schemas.microsoft.com/office/drawing/2014/main" id="{4B552DEB-87EB-48C2-B3C9-D75D32CA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52925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level-label-4">
            <a:extLst xmlns:a="http://schemas.openxmlformats.org/drawingml/2006/main">
              <a:ext uri="{FF2B5EF4-FFF2-40B4-BE49-F238E27FC236}">
                <a16:creationId xmlns:a16="http://schemas.microsoft.com/office/drawing/2014/main" id="{A6BB060E-624E-4B54-865C-D9B0B8D5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3434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3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B68"/>
                </a:solidFill>
                <a:latin typeface="Arial"/>
                <a:ea typeface="Arial"/>
                <a:cs typeface="Arial"/>
              </a:rPr>
              <a:t>Good</a:t>
            </a:r>
          </a:p>
        </p:txBody>
      </p:sp>
      <p:sp>
        <p:nvSpPr>
          <p:cNvPr id="20" name="level-box-5">
            <a:extLst xmlns:a="http://schemas.openxmlformats.org/drawingml/2006/main">
              <a:ext uri="{FF2B5EF4-FFF2-40B4-BE49-F238E27FC236}">
                <a16:creationId xmlns:a16="http://schemas.microsoft.com/office/drawing/2014/main" id="{213CA86A-B01E-47CE-B0B5-7A8E9510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43450"/>
            <a:ext cx="352425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F8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level-number-5">
            <a:extLst xmlns:a="http://schemas.openxmlformats.org/drawingml/2006/main">
              <a:ext uri="{FF2B5EF4-FFF2-40B4-BE49-F238E27FC236}">
                <a16:creationId xmlns:a16="http://schemas.microsoft.com/office/drawing/2014/main" id="{0CB4A5C4-2DD6-4444-BEFD-0684E5BA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00600"/>
            <a:ext cx="352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level-label-5">
            <a:extLst xmlns:a="http://schemas.openxmlformats.org/drawingml/2006/main">
              <a:ext uri="{FF2B5EF4-FFF2-40B4-BE49-F238E27FC236}">
                <a16:creationId xmlns:a16="http://schemas.microsoft.com/office/drawing/2014/main" id="{84249A3B-0971-457E-AC67-09E597D2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7910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3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B68"/>
                </a:solidFill>
                <a:latin typeface="Arial"/>
                <a:ea typeface="Arial"/>
                <a:cs typeface="Arial"/>
              </a:rPr>
              <a:t>Excellent</a:t>
            </a:r>
          </a:p>
        </p:txBody>
      </p:sp>
      <p:sp>
        <p:nvSpPr>
          <p:cNvPr id="23" name="na-callout">
            <a:extLst xmlns:a="http://schemas.openxmlformats.org/drawingml/2006/main">
              <a:ext uri="{FF2B5EF4-FFF2-40B4-BE49-F238E27FC236}">
                <a16:creationId xmlns:a16="http://schemas.microsoft.com/office/drawing/2014/main" id="{824FABE4-E6EE-41EB-96C1-D0DAF0F9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34000"/>
            <a:ext cx="4705350" cy="504825"/>
          </a:xfrm>
          <a:prstGeom xmlns:a="http://schemas.openxmlformats.org/drawingml/2006/main" prst="roundRect">
            <a:avLst>
              <a:gd name="adj" fmla="val 22642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9525">
            <a:solidFill>
              <a:srgbClr val="D9E5F2"/>
            </a:solidFill>
            <a:prstDash val="solid"/>
          </a:ln>
        </p:spPr>
      </p:sp>
      <p:sp>
        <p:nvSpPr>
          <p:cNvPr id="24" name="na-title">
            <a:extLst xmlns:a="http://schemas.openxmlformats.org/drawingml/2006/main">
              <a:ext uri="{FF2B5EF4-FFF2-40B4-BE49-F238E27FC236}">
                <a16:creationId xmlns:a16="http://schemas.microsoft.com/office/drawing/2014/main" id="{0A241905-90DB-46A8-8715-7517577C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47687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371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18A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25" name="na-copy">
            <a:extLst xmlns:a="http://schemas.openxmlformats.org/drawingml/2006/main">
              <a:ext uri="{FF2B5EF4-FFF2-40B4-BE49-F238E27FC236}">
                <a16:creationId xmlns:a16="http://schemas.microsoft.com/office/drawing/2014/main" id="{8EBC4F82-3A9E-41C7-8C38-3D7B4099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467350"/>
            <a:ext cx="365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8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783"/>
                </a:solidFill>
                <a:latin typeface="Arial"/>
                <a:ea typeface="Arial"/>
                <a:cs typeface="Arial"/>
              </a:rPr>
              <a:t>Use it when the task was not performed; it is not included in the average.</a:t>
            </a:r>
          </a:p>
        </p:txBody>
      </p:sp>
      <p:sp>
        <p:nvSpPr>
          <p:cNvPr id="26" name="badge">
            <a:extLst xmlns:a="http://schemas.openxmlformats.org/drawingml/2006/main">
              <a:ext uri="{FF2B5EF4-FFF2-40B4-BE49-F238E27FC236}">
                <a16:creationId xmlns:a16="http://schemas.microsoft.com/office/drawing/2014/main" id="{4FB929E0-D05F-4211-B2E5-67F98584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adge-text">
            <a:extLst xmlns:a="http://schemas.openxmlformats.org/drawingml/2006/main">
              <a:ext uri="{FF2B5EF4-FFF2-40B4-BE49-F238E27FC236}">
                <a16:creationId xmlns:a16="http://schemas.microsoft.com/office/drawing/2014/main" id="{8A0780C7-05DB-4785-AB0B-A0F06E16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34100"/>
            <a:ext cx="476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caption">
            <a:extLst xmlns:a="http://schemas.openxmlformats.org/drawingml/2006/main">
              <a:ext uri="{FF2B5EF4-FFF2-40B4-BE49-F238E27FC236}">
                <a16:creationId xmlns:a16="http://schemas.microsoft.com/office/drawing/2014/main" id="{AA6B5D42-41BF-43D8-BDFB-928A745A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153150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3A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3A7A"/>
                </a:solidFill>
                <a:latin typeface="Arial"/>
                <a:ea typeface="Arial"/>
                <a:cs typeface="Arial"/>
              </a:rPr>
              <a:t>Visible scoring categories for every evaluation</a:t>
            </a:r>
          </a:p>
        </p:txBody>
      </p:sp>
      <p:sp>
        <p:nvSpPr>
          <p:cNvPr id="29" name="page">
            <a:extLst xmlns:a="http://schemas.openxmlformats.org/drawingml/2006/main">
              <a:ext uri="{FF2B5EF4-FFF2-40B4-BE49-F238E27FC236}">
                <a16:creationId xmlns:a16="http://schemas.microsoft.com/office/drawing/2014/main" id="{D4046F61-3733-4797-9C92-614822CA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3718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3718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781164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2026-07-23T23:54:44.3440000Z</dcterms:created>
  <dcterms:modified xsi:type="dcterms:W3CDTF">2026-07-23T23:54:44.3440000Z</dcterms:modified>
</coreProperties>
</file>