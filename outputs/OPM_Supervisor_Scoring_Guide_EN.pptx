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6ed8b4f1e4454b" /><Relationship Type="http://schemas.openxmlformats.org/officeDocument/2006/relationships/extended-properties" Target="/docProps/app.xml" Id="R716ec652ffc9441d" /><Relationship Type="http://schemas.openxmlformats.org/officeDocument/2006/relationships/officeDocument" Target="/ppt/presentation.xml" Id="R8a66d960f067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cb93d765a44316"/>
  </p:sldMasterIdLst>
  <p:notesMasterIdLst>
    <p:notesMasterId xmlns:r="http://schemas.openxmlformats.org/officeDocument/2006/relationships" r:id="Rcc5ffe8d4cfa4a92"/>
  </p:notesMasterIdLst>
  <p:sldIdLst>
    <p:sldId xmlns:r="http://schemas.openxmlformats.org/officeDocument/2006/relationships" id="256" r:id="R25ed7a9b3017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cf07b4fbf4b7e" /><Relationship Type="http://schemas.openxmlformats.org/officeDocument/2006/relationships/slideMaster" Target="/ppt/slideMasters/slideMaster1.xml" Id="R74cb93d765a44316" /><Relationship Type="http://schemas.openxmlformats.org/officeDocument/2006/relationships/notesMaster" Target="/ppt/notesMasters/notesMaster1.xml" Id="Rcc5ffe8d4cfa4a92" /><Relationship Type="http://schemas.openxmlformats.org/officeDocument/2006/relationships/presProps" Target="/ppt/presProps.xml" Id="R01a5a0c0a25946f4" /><Relationship Type="http://schemas.openxmlformats.org/officeDocument/2006/relationships/tableStyles" Target="/ppt/tableStyles.xml" Id="R77ca27ccb4a442e8" /><Relationship Type="http://schemas.openxmlformats.org/officeDocument/2006/relationships/slide" Target="/ppt/slides/slide1.xml" Id="R25ed7a9b3017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13364ef64745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e519668acf42bf" /><Relationship Type="http://schemas.openxmlformats.org/officeDocument/2006/relationships/notesMaster" Target="/ppt/notesMasters/notesMaster1.xml" Id="R874b203ea6ae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6e607fc53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1a0cdd8c74bab" /><Relationship Type="http://schemas.openxmlformats.org/officeDocument/2006/relationships/slideLayout" Target="/ppt/slideLayouts/slideLayout1.xml" Id="Rc98b8f592443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b8f592443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a63ace04d4e74" /><Relationship Type="http://schemas.openxmlformats.org/officeDocument/2006/relationships/image" Target="/ppt/media/image.png" Id="R781aa9c06ac54594" /><Relationship Type="http://schemas.openxmlformats.org/officeDocument/2006/relationships/notesSlide" Target="/ppt/notesSlides/notesSlide1.xml" Id="R9f42cdecfcf646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ule">
            <a:extLst xmlns:a="http://schemas.openxmlformats.org/drawingml/2006/main">
              <a:ext uri="{FF2B5EF4-FFF2-40B4-BE49-F238E27FC236}">
                <a16:creationId xmlns:a16="http://schemas.microsoft.com/office/drawing/2014/main" id="{42CC7BD0-E4F5-496F-AF6D-AA2EA40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850A523-73C5-4B8E-BDB3-8685281A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7C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7C00"/>
                </a:solidFill>
                <a:latin typeface="Arial"/>
                <a:ea typeface="Arial"/>
                <a:cs typeface="Arial"/>
              </a:rPr>
              <a:t>SCORING DURING THE SHIFT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F1E16-9122-4B3C-B6ED-BB6CE141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810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When the supervisor can assign a score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678DBE7-B7BB-427A-BFE7-4703306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95475"/>
            <a:ext cx="4943475" cy="42672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aa9c06ac54594"/>
          <a:srcRect xmlns:a="http://schemas.openxmlformats.org/drawingml/2006/main" l="0" t="19612" r="0" b="19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2009775"/>
            <a:ext cx="4714875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6" name="screen-label">
            <a:extLst xmlns:a="http://schemas.openxmlformats.org/drawingml/2006/main">
              <a:ext uri="{FF2B5EF4-FFF2-40B4-BE49-F238E27FC236}">
                <a16:creationId xmlns:a16="http://schemas.microsoft.com/office/drawing/2014/main" id="{1841BE68-9CF4-4EC6-9D05-511D873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0002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63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label-text">
            <a:extLst xmlns:a="http://schemas.openxmlformats.org/drawingml/2006/main">
              <a:ext uri="{FF2B5EF4-FFF2-40B4-BE49-F238E27FC236}">
                <a16:creationId xmlns:a16="http://schemas.microsoft.com/office/drawing/2014/main" id="{18D96185-29AF-47AB-A6CD-21EF111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 RUBRIC IN THE SYSTEM</a:t>
            </a:r>
          </a:p>
        </p:txBody>
      </p:sp>
      <p:sp>
        <p:nvSpPr>
          <p:cNvPr id="8" name="callout-1">
            <a:extLst xmlns:a="http://schemas.openxmlformats.org/drawingml/2006/main">
              <a:ext uri="{FF2B5EF4-FFF2-40B4-BE49-F238E27FC236}">
                <a16:creationId xmlns:a16="http://schemas.microsoft.com/office/drawing/2014/main" id="{73C82AEF-7AEA-4AB0-973F-720091F8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95475"/>
            <a:ext cx="5562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9" name="accent-1">
            <a:extLst xmlns:a="http://schemas.openxmlformats.org/drawingml/2006/main">
              <a:ext uri="{FF2B5EF4-FFF2-40B4-BE49-F238E27FC236}">
                <a16:creationId xmlns:a16="http://schemas.microsoft.com/office/drawing/2014/main" id="{64F0F7EE-6330-4A98-987F-DAE1939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95250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6CC6BFE1-85AD-4231-959E-AE590D4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955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Only for applicable work</a:t>
            </a:r>
          </a:p>
        </p:txBody>
      </p:sp>
      <p:sp>
        <p:nvSpPr>
          <p:cNvPr id="11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3F162A5B-54CB-49D0-AE10-FB98B2EA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193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355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3557"/>
                </a:solidFill>
                <a:latin typeface="Arial"/>
                <a:ea typeface="Arial"/>
                <a:cs typeface="Arial"/>
              </a:rPr>
              <a:t>After the shift, choose the cargo type and score only the tasks that were performed and observed.</a:t>
            </a:r>
          </a:p>
        </p:txBody>
      </p:sp>
      <p:sp>
        <p:nvSpPr>
          <p:cNvPr id="12" name="callout-2">
            <a:extLst xmlns:a="http://schemas.openxmlformats.org/drawingml/2006/main">
              <a:ext uri="{FF2B5EF4-FFF2-40B4-BE49-F238E27FC236}">
                <a16:creationId xmlns:a16="http://schemas.microsoft.com/office/drawing/2014/main" id="{97CDED9C-F620-4195-AF1A-0B5341F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8475"/>
            <a:ext cx="5562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8F61FC56-0235-4335-B827-F78AE2B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95250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E7373B25-718D-4D23-BA79-E5DE0CD7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385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Based on the task rubric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4D5D4CD6-E739-468B-A6BC-486920F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623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355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3557"/>
                </a:solidFill>
                <a:latin typeface="Arial"/>
                <a:ea typeface="Arial"/>
                <a:cs typeface="Arial"/>
              </a:rPr>
              <a:t>Select 1-5 only after comparing the observed performance with the description for that task.</a:t>
            </a:r>
          </a:p>
        </p:txBody>
      </p:sp>
      <p:sp>
        <p:nvSpPr>
          <p:cNvPr id="16" name="callout-3">
            <a:extLst xmlns:a="http://schemas.openxmlformats.org/drawingml/2006/main">
              <a:ext uri="{FF2B5EF4-FFF2-40B4-BE49-F238E27FC236}">
                <a16:creationId xmlns:a16="http://schemas.microsoft.com/office/drawing/2014/main" id="{FDB0829D-A6EA-4E89-939D-4F7DD71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81475"/>
            <a:ext cx="5562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17" name="accent-3">
            <a:extLst xmlns:a="http://schemas.openxmlformats.org/drawingml/2006/main">
              <a:ext uri="{FF2B5EF4-FFF2-40B4-BE49-F238E27FC236}">
                <a16:creationId xmlns:a16="http://schemas.microsoft.com/office/drawing/2014/main" id="{7EF3801F-F5F2-4836-A978-D126108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95250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CE652C3F-6E98-4CF0-8DCD-898B8D31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3815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Because every score is evidence</a:t>
            </a:r>
          </a:p>
        </p:txBody>
      </p:sp>
      <p:sp>
        <p:nvSpPr>
          <p:cNvPr id="19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C6D999E2-72C7-44B7-8FA0-22823011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355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3557"/>
                </a:solidFill>
                <a:latin typeface="Arial"/>
                <a:ea typeface="Arial"/>
                <a:cs typeface="Arial"/>
              </a:rPr>
              <a:t>Each rating feeds its O1-O4 objective and creates traceable input for the quarterly appraisal.</a:t>
            </a:r>
          </a:p>
        </p:txBody>
      </p:sp>
      <p:sp>
        <p:nvSpPr>
          <p:cNvPr id="20" name="callout-4">
            <a:extLst xmlns:a="http://schemas.openxmlformats.org/drawingml/2006/main">
              <a:ext uri="{FF2B5EF4-FFF2-40B4-BE49-F238E27FC236}">
                <a16:creationId xmlns:a16="http://schemas.microsoft.com/office/drawing/2014/main" id="{5248554F-0BFC-4508-9750-493AC32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24475"/>
            <a:ext cx="5562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7E3F2"/>
            </a:solidFill>
            <a:prstDash val="solid"/>
          </a:ln>
        </p:spPr>
      </p:sp>
      <p:sp>
        <p:nvSpPr>
          <p:cNvPr id="21" name="accent-4">
            <a:extLst xmlns:a="http://schemas.openxmlformats.org/drawingml/2006/main">
              <a:ext uri="{FF2B5EF4-FFF2-40B4-BE49-F238E27FC236}">
                <a16:creationId xmlns:a16="http://schemas.microsoft.com/office/drawing/2014/main" id="{4BFB83CF-680C-4011-9E14-65DA7B94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43550"/>
            <a:ext cx="95250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C8F8DBBF-652C-4FFA-9C46-2375F6C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5245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Use N/A when it was not performed</a:t>
            </a:r>
          </a:p>
        </p:txBody>
      </p:sp>
      <p:sp>
        <p:nvSpPr>
          <p:cNvPr id="23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15CD59EF-8049-42CA-A37E-9ABDA14E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848350"/>
            <a:ext cx="461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E355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3557"/>
                </a:solidFill>
                <a:latin typeface="Arial"/>
                <a:ea typeface="Arial"/>
                <a:cs typeface="Arial"/>
              </a:rPr>
              <a:t>N/A keeps a task out of the average; a safety event records Safety and Productivity below expectations.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3B736AFF-CEA1-4F65-9AA2-8B86FDE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4770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3718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3718A"/>
                </a:solidFill>
                <a:latin typeface="Arial"/>
                <a:ea typeface="Arial"/>
                <a:cs typeface="Arial"/>
              </a:rPr>
              <a:t>OPM Performance Appraisal System</a:t>
            </a:r>
          </a:p>
        </p:txBody>
      </p:sp>
      <p:sp>
        <p:nvSpPr>
          <p:cNvPr id="25" name="number">
            <a:extLst xmlns:a="http://schemas.openxmlformats.org/drawingml/2006/main">
              <a:ext uri="{FF2B5EF4-FFF2-40B4-BE49-F238E27FC236}">
                <a16:creationId xmlns:a16="http://schemas.microsoft.com/office/drawing/2014/main" id="{41CFDD05-FC51-4012-BBC5-9132F22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674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371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3718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8620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2026-07-23T23:22:01.9300000Z</dcterms:created>
  <dcterms:modified xsi:type="dcterms:W3CDTF">2026-07-23T23:22:01.9300000Z</dcterms:modified>
</coreProperties>
</file>